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1234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522711"/>
          </a:xfrm>
        </p:spPr>
        <p:txBody>
          <a:bodyPr>
            <a:normAutofit/>
          </a:bodyPr>
          <a:lstStyle/>
          <a:p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Юзабилити-тестирование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Notes Manager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Введение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Продукт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Notes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Manager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менеджер заметок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Flet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поддержкой локального хранения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файлы) и облачной синхронизации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Supabase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Цели тестирования: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Оценить, насколько быстро и без ошибок пользователи выполняют основные задачи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Выявить узкие места в интерфейсе и логике взаимодействия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Измерить общую удовлетворённость пользователей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Получить конкретные рекомендации для доработки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продукта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Задачи тестирования: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Проверить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интуитивность создания, редактирования и удаления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заметок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Оценить удобство переключения между режимами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хранения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Проверить понятность настройки облачной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синхронизации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Измерить время выполнения ключевых задач и количество ошибок</a:t>
            </a:r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Этап 1. Определение целей тестирования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67544" y="1844823"/>
          <a:ext cx="8229600" cy="3916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8647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latin typeface="Times New Roman" pitchFamily="18" charset="0"/>
                          <a:cs typeface="Times New Roman" pitchFamily="18" charset="0"/>
                        </a:rPr>
                        <a:t>Метрика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latin typeface="Times New Roman" pitchFamily="18" charset="0"/>
                          <a:cs typeface="Times New Roman" pitchFamily="18" charset="0"/>
                        </a:rPr>
                        <a:t>Целевое значение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latin typeface="Times New Roman" pitchFamily="18" charset="0"/>
                          <a:cs typeface="Times New Roman" pitchFamily="18" charset="0"/>
                        </a:rPr>
                        <a:t>Метод измерения</a:t>
                      </a:r>
                    </a:p>
                  </a:txBody>
                  <a:tcPr marL="182880" marR="182880" marT="60960" marB="60960" anchor="ctr"/>
                </a:tc>
              </a:tr>
              <a:tr h="458647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Время создания заметки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до 30 секунд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Секундомер</a:t>
                      </a:r>
                    </a:p>
                  </a:txBody>
                  <a:tcPr marL="182880" marR="182880" marT="60960" marB="60960" anchor="ctr"/>
                </a:tc>
              </a:tr>
              <a:tr h="776172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Успешность выполнения задач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не менее 90%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Фиксация успеха/провала</a:t>
                      </a:r>
                    </a:p>
                  </a:txBody>
                  <a:tcPr marL="182880" marR="182880" marT="60960" marB="60960" anchor="ctr"/>
                </a:tc>
              </a:tr>
              <a:tr h="776172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Количество ошибок на пользователя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не более 2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Подсчёт ошибочных действий</a:t>
                      </a:r>
                    </a:p>
                  </a:txBody>
                  <a:tcPr marL="182880" marR="182880" marT="60960" marB="60960" anchor="ctr"/>
                </a:tc>
              </a:tr>
              <a:tr h="776172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Оценка </a:t>
                      </a: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SUS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не ниже 70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Анкета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SUS (10 </a:t>
                      </a:r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вопросов)</a:t>
                      </a:r>
                    </a:p>
                  </a:txBody>
                  <a:tcPr marL="182880" marR="182880" marT="60960" marB="60960" anchor="ctr"/>
                </a:tc>
              </a:tr>
              <a:tr h="458647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Удовлетворённость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не ниже 4/5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latin typeface="Times New Roman" pitchFamily="18" charset="0"/>
                          <a:cs typeface="Times New Roman" pitchFamily="18" charset="0"/>
                        </a:rPr>
                        <a:t>Пост-тестовое</a:t>
                      </a:r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 интервью</a:t>
                      </a:r>
                    </a:p>
                  </a:txBody>
                  <a:tcPr marL="182880" marR="182880" marT="60960" marB="6096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Этап 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2. Выбор участников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Тестировали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5 человек, соответствующих целевой аудитории — пользователи, которым нужен инструмент для ведения заметок с возможностью синхронизации между устройствами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Критерии отбора: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Возраст 18–35 лет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Регулярное использование заметок (личные или рабочие)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Разный уровень технической подготовки — от новичка до продвинутого пользователя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Готовность тестировать приложение на ПК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51520" y="764704"/>
          <a:ext cx="8640960" cy="5663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/>
                <a:gridCol w="1728192"/>
                <a:gridCol w="1728192"/>
                <a:gridCol w="1728192"/>
                <a:gridCol w="1728192"/>
              </a:tblGrid>
              <a:tr h="6950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#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Имя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Возраст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Опыт работы с ПК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Профиль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83781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Анна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Начальный 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Студентка, делает заметки от руки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19401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Дмитрий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Средний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Менеджер, пользуется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Google Keep</a:t>
                      </a:r>
                    </a:p>
                  </a:txBody>
                  <a:tcPr marL="182880" marR="182880" marT="60960" marB="60960" anchor="ctr"/>
                </a:tc>
              </a:tr>
              <a:tr h="919401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Ольга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Продвинутый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 dirty="0" err="1">
                          <a:latin typeface="Times New Roman" pitchFamily="18" charset="0"/>
                          <a:cs typeface="Times New Roman" pitchFamily="18" charset="0"/>
                        </a:rPr>
                        <a:t>Маркетолог</a:t>
                      </a:r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, ведёт рабочие заметки</a:t>
                      </a:r>
                    </a:p>
                  </a:txBody>
                  <a:tcPr marL="182880" marR="182880" marT="60960" marB="60960" anchor="ctr"/>
                </a:tc>
              </a:tr>
              <a:tr h="1176834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Игорь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Продвинутый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Разработчик, тестирует техническую часть</a:t>
                      </a:r>
                    </a:p>
                  </a:txBody>
                  <a:tcPr marL="182880" marR="182880" marT="60960" marB="60960" anchor="ctr"/>
                </a:tc>
              </a:tr>
              <a:tr h="919401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Марина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itchFamily="18" charset="0"/>
                          <a:cs typeface="Times New Roman" pitchFamily="18" charset="0"/>
                        </a:rPr>
                        <a:t>Средний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itchFamily="18" charset="0"/>
                          <a:cs typeface="Times New Roman" pitchFamily="18" charset="0"/>
                        </a:rPr>
                        <a:t>Студентка, пользуется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Apple Notes</a:t>
                      </a:r>
                    </a:p>
                  </a:txBody>
                  <a:tcPr marL="182880" marR="182880" marT="60960" marB="6096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Этап 3. Подготовка сценария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5658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Каждому участнику давалась одна и та же инструкция. Перед началом —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короткий брифинг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«Вам нужно поработать с приложением для заметок. Выполняйте задачи по очереди. Думайте вслух — озвучивайте, что делаете и что ожидаете увидеть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».</a:t>
            </a:r>
          </a:p>
          <a:p>
            <a:pPr algn="ctr">
              <a:buNone/>
            </a:pP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Задача 1. Создание заметки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Создайте заметку с заголовком «План на неделю», датой сегодня, временем 14:00 и содержанием «Купить продукты, позвонить маме, сдать отчёт».</a:t>
            </a:r>
          </a:p>
          <a:p>
            <a:pPr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Задача 2. Поиск заметки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Найдите заметку, в которой упоминается слово «мама».</a:t>
            </a:r>
          </a:p>
          <a:p>
            <a:pPr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Задача 3. Редактирование заметки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Откройте заметку «План на неделю» и добавьте в конец текста «Записаться к врачу».</a:t>
            </a:r>
          </a:p>
          <a:p>
            <a:pPr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Задача 4. Переключение хранилища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Переключите режим хранения с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 файлы и создайте новую заметку «Тестовая».</a:t>
            </a:r>
          </a:p>
          <a:p>
            <a:pPr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Задача 5. Удаление заметки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Удалите заметку «Тестовая».</a:t>
            </a:r>
          </a:p>
          <a:p>
            <a:pPr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Задача 6. Настройка облака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Переключите режим хранения на «Облако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Supabase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)». Приложение должно подключиться к облачной базе.</a:t>
            </a:r>
          </a:p>
          <a:p>
            <a:pPr>
              <a:buNone/>
            </a:pP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Этап 4. Проведение тестов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Тестирование проводилось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индивидуально, по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20–25 минут на участника. Формат 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модерируемое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тестирование с наблюдением. Исследователь сидел рядом, наблюдал, записывал время, ошибки и комментарии пользователя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Условия: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Ноутбук с установленным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3.10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Flet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Приложение запущено локально, режим хранения 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по умолчанию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Supabase-проект настроен заранее, ключи в 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config.py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Этап 5. Анализ результатов</a:t>
            </a:r>
            <a:br>
              <a:rPr lang="ru-RU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79512" y="1196752"/>
          <a:ext cx="8712968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712"/>
                <a:gridCol w="1095628"/>
                <a:gridCol w="1168670"/>
                <a:gridCol w="850474"/>
                <a:gridCol w="1267740"/>
                <a:gridCol w="1314754"/>
                <a:gridCol w="803461"/>
                <a:gridCol w="970529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latin typeface="Times New Roman" pitchFamily="18" charset="0"/>
                          <a:cs typeface="Times New Roman" pitchFamily="18" charset="0"/>
                        </a:rPr>
                        <a:t>Задача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latin typeface="Times New Roman" pitchFamily="18" charset="0"/>
                          <a:cs typeface="Times New Roman" pitchFamily="18" charset="0"/>
                        </a:rPr>
                        <a:t>Анна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latin typeface="Times New Roman" pitchFamily="18" charset="0"/>
                          <a:cs typeface="Times New Roman" pitchFamily="18" charset="0"/>
                        </a:rPr>
                        <a:t>Дмитрий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latin typeface="Times New Roman" pitchFamily="18" charset="0"/>
                          <a:cs typeface="Times New Roman" pitchFamily="18" charset="0"/>
                        </a:rPr>
                        <a:t>Ольга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latin typeface="Times New Roman" pitchFamily="18" charset="0"/>
                          <a:cs typeface="Times New Roman" pitchFamily="18" charset="0"/>
                        </a:rPr>
                        <a:t>Игорь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latin typeface="Times New Roman" pitchFamily="18" charset="0"/>
                          <a:cs typeface="Times New Roman" pitchFamily="18" charset="0"/>
                        </a:rPr>
                        <a:t>Марина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latin typeface="Times New Roman" pitchFamily="18" charset="0"/>
                          <a:cs typeface="Times New Roman" pitchFamily="18" charset="0"/>
                        </a:rPr>
                        <a:t>Успех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Среднее время</a:t>
                      </a:r>
                      <a:endParaRPr lang="ru-RU" sz="1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82880" marR="182880" marT="60960" marB="6096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1. Создание заметки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OK, 35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OK, 22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18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15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28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5/5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24с</a:t>
                      </a:r>
                    </a:p>
                  </a:txBody>
                  <a:tcPr marL="182880" marR="182880" marT="60960" marB="6096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2. Поиск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12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OK, 8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6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5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10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5/5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8с</a:t>
                      </a:r>
                    </a:p>
                  </a:txBody>
                  <a:tcPr marL="182880" marR="182880" marT="60960" marB="6096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3. Редактирование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40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OK, 20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OK, 15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12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25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5/5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22с</a:t>
                      </a:r>
                    </a:p>
                  </a:txBody>
                  <a:tcPr marL="182880" marR="182880" marT="60960" marB="6096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4. Переключение хранилища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45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18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OK, 12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OK, 10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30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5/5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23с</a:t>
                      </a:r>
                    </a:p>
                  </a:txBody>
                  <a:tcPr marL="182880" marR="182880" marT="60960" marB="6096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5. Удаление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но без подтверждения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но без подтверждения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но без подтверждения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OK, 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но без подтверждения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OK, 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но без подтверждения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5/5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10с</a:t>
                      </a:r>
                    </a:p>
                  </a:txBody>
                  <a:tcPr marL="182880" marR="182880" marT="60960" marB="6096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6. Настройка облака</a:t>
                      </a:r>
                    </a:p>
                  </a:txBody>
                  <a:tcPr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Провал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20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15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8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itchFamily="18" charset="0"/>
                          <a:cs typeface="Times New Roman" pitchFamily="18" charset="0"/>
                        </a:rPr>
                        <a:t>OK, 18</a:t>
                      </a:r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itchFamily="18" charset="0"/>
                          <a:cs typeface="Times New Roman" pitchFamily="18" charset="0"/>
                        </a:rPr>
                        <a:t>4/5</a:t>
                      </a:r>
                    </a:p>
                  </a:txBody>
                  <a:tcPr marL="182880" marR="182880" marT="60960" marB="60960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15с</a:t>
                      </a:r>
                    </a:p>
                  </a:txBody>
                  <a:tcPr marL="182880" marR="182880" marT="60960" marB="6096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Ключевые метрики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Успешность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выполнения задач: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29 из 30 = 96,7% — цель достигнута</a:t>
            </a:r>
          </a:p>
          <a:p>
            <a:pPr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Среднее время создания заметки: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24 секунды — цель (30с) достигнута</a:t>
            </a:r>
          </a:p>
          <a:p>
            <a:pPr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Среднее количество ошибок на пользователя: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1,4 — цель (не более 2) достигнута</a:t>
            </a:r>
          </a:p>
          <a:p>
            <a:pPr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Средний балл SUS: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73/100 — цель (не ниже 70) достигнута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Комментарии участников</a:t>
            </a:r>
            <a:br>
              <a:rPr lang="ru-RU" b="1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ru-RU" sz="4200" b="1" dirty="0" smtClean="0">
                <a:latin typeface="Times New Roman" pitchFamily="18" charset="0"/>
                <a:cs typeface="Times New Roman" pitchFamily="18" charset="0"/>
              </a:rPr>
              <a:t>Положительные:</a:t>
            </a:r>
            <a:endParaRPr lang="ru-RU" sz="4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«Интерфейс чистый, ничего лишнего» — Дмитрий</a:t>
            </a:r>
          </a:p>
          <a:p>
            <a:pPr>
              <a:buNone/>
            </a:pP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«Поиск работает мгновенно, это удобно» — Игорь</a:t>
            </a:r>
          </a:p>
          <a:p>
            <a:pPr>
              <a:buNone/>
            </a:pP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«Понятно, что куда нажимать — кнопки на виду» — Марина</a:t>
            </a:r>
          </a:p>
          <a:p>
            <a:pPr>
              <a:buNone/>
            </a:pP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«Облако подключилось без проблем, я ожидал сложнее» — </a:t>
            </a: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Ольга</a:t>
            </a:r>
          </a:p>
          <a:p>
            <a:pPr>
              <a:buNone/>
            </a:pPr>
            <a:endParaRPr lang="ru-RU" sz="4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4200" b="1" dirty="0" smtClean="0">
                <a:latin typeface="Times New Roman" pitchFamily="18" charset="0"/>
                <a:cs typeface="Times New Roman" pitchFamily="18" charset="0"/>
              </a:rPr>
              <a:t>Проблемы</a:t>
            </a:r>
            <a:r>
              <a:rPr lang="ru-RU" sz="4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4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«Я не поняла, как настроить облако — где брать ключи?» — Анна</a:t>
            </a:r>
          </a:p>
          <a:p>
            <a:pPr>
              <a:buNone/>
            </a:pP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«Удалила заметку случайно, а отменить нельзя» — Марина</a:t>
            </a:r>
          </a:p>
          <a:p>
            <a:pPr>
              <a:buNone/>
            </a:pP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«Непонятно, в каком режиме я сейчас работаю — </a:t>
            </a:r>
            <a:r>
              <a:rPr lang="ru-RU" sz="4200" dirty="0" err="1" smtClean="0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 или файлы» — Анна, Марина</a:t>
            </a:r>
          </a:p>
          <a:p>
            <a:pPr>
              <a:buNone/>
            </a:pP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«Хочется подтверждение удаления, а то удалил и забыл» — Дмитрий, Ольга</a:t>
            </a:r>
          </a:p>
          <a:p>
            <a:pPr>
              <a:buNone/>
            </a:pP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«Нет подсказок в полях ввода — пришлось угадывать формат даты» — Анна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Детальное описание узких мест</a:t>
            </a:r>
            <a:br>
              <a:rPr lang="ru-RU" b="1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Autofit/>
          </a:bodyPr>
          <a:lstStyle/>
          <a:p>
            <a:pPr marL="742950" indent="-742950"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1. Удаление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заметки без подтверждения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indent="-742950"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5 участников удаляли заметки одним кликом.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Двое отметили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что случайно нажали кнопку удаления и не поняли, что заметка исчезла. Нет диалогового окна с вопросом «Вы уверены?», нет возможности отменить действие. Это критичная проблема — риск потери данных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742950" indent="-742950">
              <a:buAutoNum type="arabicPeriod"/>
            </a:pP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2. Неясность активного режима хранения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Анна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 Марина переключились с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 файлы, но не поняли, что заметки из предыдущего режима не перенеслись. Интерфейс не подсвечивает активный режим достаточно заметно — переключатель выглядит как обычный элемент, а не как индикатор текущего состояния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3. Отсутствие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плейсхолдеров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в полях ввода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Анна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 знала, в каком формате вводить дату — 05.10.2026 или 2026-10-05. Поле пустое, подсказок нет. Пришлось угадывать методом проб и ошибок. То же с полем времени — 14:00 или 2 часа дня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4. Сложность настройки облака для новичков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Анна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 справилась с задачей 6 — не поняла, где взять URL и ключ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Supabase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В приложении нет ссылки на инструкцию или кнопки-подсказки. Опытные пользователи справились, но для целевой аудитории с низким техническим уровнем это барьер.</a:t>
            </a:r>
          </a:p>
          <a:p>
            <a:pPr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600" dirty="0" smtClean="0">
                <a:latin typeface="Times New Roman" pitchFamily="18" charset="0"/>
                <a:cs typeface="Times New Roman" pitchFamily="18" charset="0"/>
              </a:rPr>
            </a:b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Рекомендации</a:t>
            </a:r>
            <a:br>
              <a:rPr lang="ru-RU" b="1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Критичный приоритет:</a:t>
            </a:r>
            <a:endParaRPr lang="ru-RU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Добавить диалог подтверждения удаления.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 Перед удалением — окно «Удалить заметку? Да / Нет». Это решит проблему №1, затронувшую всех участников.</a:t>
            </a:r>
          </a:p>
          <a:p>
            <a:pPr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Добавить корзину.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 Удалённые заметки перемещаются в корзину, откуда их можно восстановить в течение 24 часов. Запасной вариант на случай случайного удаления.</a:t>
            </a:r>
          </a:p>
          <a:p>
            <a:pPr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Высокий приоритет:</a:t>
            </a:r>
            <a:endParaRPr lang="ru-RU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Визуально выделить активный режим хранения.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 Подсветить выбранный режим цветом или иконкой. Добавить текстовый индикатор сверху: «Текущее хранилище: </a:t>
            </a:r>
            <a:r>
              <a:rPr lang="ru-RU" sz="1800" dirty="0" err="1" smtClean="0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».</a:t>
            </a:r>
          </a:p>
          <a:p>
            <a:pPr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Добавить </a:t>
            </a:r>
            <a:r>
              <a:rPr lang="ru-RU" sz="1800" b="1" dirty="0" err="1" smtClean="0">
                <a:latin typeface="Times New Roman" pitchFamily="18" charset="0"/>
                <a:cs typeface="Times New Roman" pitchFamily="18" charset="0"/>
              </a:rPr>
              <a:t>плейсхолдеры</a:t>
            </a: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 в поля ввода.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 В поле даты — ДД.ММ.ГГГГ, в поле времени — ЧЧ:ММ. Подсказка внутри поля исчезает при вводе.</a:t>
            </a:r>
          </a:p>
          <a:p>
            <a:pPr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Средний приоритет:</a:t>
            </a:r>
            <a:endParaRPr lang="ru-RU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Добавить кнопку-подсказку рядом с настройкой облака.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 Короткая ссылка на инструкцию или всплывающее окно: «Как получить ключи </a:t>
            </a:r>
            <a:r>
              <a:rPr lang="ru-RU" sz="1800" dirty="0" err="1" smtClean="0">
                <a:latin typeface="Times New Roman" pitchFamily="18" charset="0"/>
                <a:cs typeface="Times New Roman" pitchFamily="18" charset="0"/>
              </a:rPr>
              <a:t>Supabase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» с шагами 1-2-3.</a:t>
            </a:r>
          </a:p>
          <a:p>
            <a:pPr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Добавить календарь для выбора даты.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 Вместо ручного ввода — выбор из выпадающего календаря. Снизит количество ошибок форматирования.</a:t>
            </a:r>
          </a:p>
          <a:p>
            <a:pPr>
              <a:buNone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Заключение</a:t>
            </a:r>
            <a:br>
              <a:rPr lang="ru-RU" b="1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Юзабилити-тестирование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Notes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Manager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5 участниками показало, что приложение в целом удобное и интуитивно понятное. Успешность выполнения задач — 96,7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%,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 выше среднего по индустрии.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Основные задачи — создание, поиск, редактирование и переключение хранилища — выполняются быстро и без затруднений. Облачная синхронизация работает корректно для пользователей с техническим опытом.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Выявлено 5 проблем, из которых 2 критичные: удаление без подтверждения и отсутствие возможности восстановить заметку. Эти проблемы решаются добавлением диалога подтверждения и корзины — доработки, которые не требуют значительных трудозатрат.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862</Words>
  <Application>Microsoft Office PowerPoint</Application>
  <PresentationFormat>Экран (4:3)</PresentationFormat>
  <Paragraphs>203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Юзабилити-тестирование Notes Manager </vt:lpstr>
      <vt:lpstr> Введение </vt:lpstr>
      <vt:lpstr>Цели тестирования:</vt:lpstr>
      <vt:lpstr>Задачи тестирования:</vt:lpstr>
      <vt:lpstr>Этап 1. Определение целей тестирования</vt:lpstr>
      <vt:lpstr> Этап 2. Выбор участников </vt:lpstr>
      <vt:lpstr>Слайд 7</vt:lpstr>
      <vt:lpstr>Этап 3. Подготовка сценария </vt:lpstr>
      <vt:lpstr>Этап 4. Проведение тестов </vt:lpstr>
      <vt:lpstr>Этап 5. Анализ результатов </vt:lpstr>
      <vt:lpstr>Ключевые метрики </vt:lpstr>
      <vt:lpstr>Комментарии участников </vt:lpstr>
      <vt:lpstr>Детальное описание узких мест </vt:lpstr>
      <vt:lpstr>Рекомендации </vt:lpstr>
      <vt:lpstr>Заключение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Юзабилити-тестирование Notes Manager </dc:title>
  <dc:creator>RaiN</dc:creator>
  <cp:lastModifiedBy>RaiN</cp:lastModifiedBy>
  <cp:revision>5</cp:revision>
  <dcterms:created xsi:type="dcterms:W3CDTF">2026-10-05T20:10:06Z</dcterms:created>
  <dcterms:modified xsi:type="dcterms:W3CDTF">2026-10-05T20:57:51Z</dcterms:modified>
</cp:coreProperties>
</file>